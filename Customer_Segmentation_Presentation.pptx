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62" r:id="rId4"/>
    <p:sldId id="260" r:id="rId5"/>
    <p:sldId id="263" r:id="rId6"/>
    <p:sldId id="259" r:id="rId7"/>
    <p:sldId id="261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159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esktop\Customer%20Segmentation%20Analysi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esktop\Customer%20Segmentation%20Analysi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[Customer Segmentation Analysis.xlsx]Pivot_Data!PivotTable3</c:name>
    <c:fmtId val="1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Customers by</a:t>
            </a:r>
            <a:r>
              <a:rPr lang="en-US" baseline="0"/>
              <a:t> Segment</a:t>
            </a:r>
            <a:endParaRPr lang="en-US"/>
          </a:p>
        </c:rich>
      </c:tx>
      <c:layout>
        <c:manualLayout>
          <c:xMode val="edge"/>
          <c:yMode val="edge"/>
          <c:x val="0.42925109361512037"/>
          <c:y val="3.931779047355735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</c:pivotFmt>
      <c:pivotFmt>
        <c:idx val="1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</c:pivotFmt>
      <c:pivotFmt>
        <c:idx val="2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</c:pivotFmt>
      <c:pivotFmt>
        <c:idx val="3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</c:pivotFmt>
      <c:pivotFmt>
        <c:idx val="4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</c:pivotFmt>
      <c:pivotFmt>
        <c:idx val="5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</c:pivotFmt>
      <c:pivotFmt>
        <c:idx val="6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</c:pivotFmt>
      <c:pivotFmt>
        <c:idx val="7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</c:pivotFmt>
      <c:pivotFmt>
        <c:idx val="9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</c:pivotFmt>
      <c:pivotFmt>
        <c:idx val="10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</c:pivotFmt>
      <c:pivotFmt>
        <c:idx val="11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</c:pivotFmt>
      <c:pivotFmt>
        <c:idx val="12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</c:pivotFmt>
      <c:pivotFmt>
        <c:idx val="13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</c:pivotFmt>
      <c:pivotFmt>
        <c:idx val="15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</c:pivotFmt>
      <c:pivotFmt>
        <c:idx val="16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</c:pivotFmt>
      <c:pivotFmt>
        <c:idx val="17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</c:pivotFmt>
      <c:pivotFmt>
        <c:idx val="18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</c:pivotFmt>
      <c:pivotFmt>
        <c:idx val="19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</c:pivotFmt>
      <c:pivotFmt>
        <c:idx val="21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</c:pivotFmt>
      <c:pivotFmt>
        <c:idx val="22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</c:pivotFmt>
      <c:pivotFmt>
        <c:idx val="23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</c:pivotFmt>
      <c:pivotFmt>
        <c:idx val="24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</c:pivotFmt>
    </c:pivotFmts>
    <c:plotArea>
      <c:layout/>
      <c:pieChart>
        <c:varyColors val="1"/>
        <c:ser>
          <c:idx val="0"/>
          <c:order val="0"/>
          <c:tx>
            <c:strRef>
              <c:f>Pivot_Data!$B$3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EC0A-4A7A-B74C-48E1547131BE}"/>
              </c:ext>
            </c:extLst>
          </c:dPt>
          <c:dPt>
            <c:idx val="1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C0A-4A7A-B74C-48E1547131BE}"/>
              </c:ext>
            </c:extLst>
          </c:dPt>
          <c:dPt>
            <c:idx val="2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EC0A-4A7A-B74C-48E1547131BE}"/>
              </c:ext>
            </c:extLst>
          </c:dPt>
          <c:dPt>
            <c:idx val="3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EC0A-4A7A-B74C-48E1547131BE}"/>
              </c:ext>
            </c:extLst>
          </c:dPt>
          <c:dPt>
            <c:idx val="4"/>
            <c:bubble3D val="0"/>
            <c:spPr>
              <a:solidFill>
                <a:schemeClr val="accent4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EC0A-4A7A-B74C-48E1547131BE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Pivot_Data!$A$4:$A$9</c:f>
              <c:strCache>
                <c:ptCount val="5"/>
                <c:pt idx="0">
                  <c:v>High_Value_Customer</c:v>
                </c:pt>
                <c:pt idx="1">
                  <c:v>Inactive_Customer</c:v>
                </c:pt>
                <c:pt idx="2">
                  <c:v>Low_Value_Customer</c:v>
                </c:pt>
                <c:pt idx="3">
                  <c:v>Medium_Value_Customer</c:v>
                </c:pt>
                <c:pt idx="4">
                  <c:v>Potential_Customer</c:v>
                </c:pt>
              </c:strCache>
            </c:strRef>
          </c:cat>
          <c:val>
            <c:numRef>
              <c:f>Pivot_Data!$B$4:$B$9</c:f>
              <c:numCache>
                <c:formatCode>0.00%</c:formatCode>
                <c:ptCount val="5"/>
                <c:pt idx="0">
                  <c:v>4.074702886247878E-2</c:v>
                </c:pt>
                <c:pt idx="1">
                  <c:v>0.14592529711375213</c:v>
                </c:pt>
                <c:pt idx="2">
                  <c:v>0.67292020373514427</c:v>
                </c:pt>
                <c:pt idx="3">
                  <c:v>7.1986417657045845E-2</c:v>
                </c:pt>
                <c:pt idx="4">
                  <c:v>6.8421052631578952E-2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EC0A-4A7A-B74C-48E1547131B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[Customer Segmentation Analysis.xlsx]Pivot_Data!PivotTable4</c:name>
    <c:fmtId val="20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Ad</a:t>
            </a:r>
            <a:r>
              <a:rPr lang="en-IN" baseline="0"/>
              <a:t> Click by Product Category</a:t>
            </a:r>
            <a:endParaRPr lang="en-IN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ivotFmts>
      <c:pivotFmt>
        <c:idx val="0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Pivot_Data!$B$14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Pivot_Data!$A$15:$A$23</c:f>
              <c:strCache>
                <c:ptCount val="8"/>
                <c:pt idx="0">
                  <c:v>Beauty</c:v>
                </c:pt>
                <c:pt idx="1">
                  <c:v>Books</c:v>
                </c:pt>
                <c:pt idx="2">
                  <c:v>Electronics</c:v>
                </c:pt>
                <c:pt idx="3">
                  <c:v>Fashion</c:v>
                </c:pt>
                <c:pt idx="4">
                  <c:v>Grocery</c:v>
                </c:pt>
                <c:pt idx="5">
                  <c:v>Home Decor</c:v>
                </c:pt>
                <c:pt idx="6">
                  <c:v>Sports</c:v>
                </c:pt>
                <c:pt idx="7">
                  <c:v>Toys</c:v>
                </c:pt>
              </c:strCache>
            </c:strRef>
          </c:cat>
          <c:val>
            <c:numRef>
              <c:f>Pivot_Data!$B$15:$B$23</c:f>
              <c:numCache>
                <c:formatCode>0</c:formatCode>
                <c:ptCount val="8"/>
                <c:pt idx="0">
                  <c:v>1473</c:v>
                </c:pt>
                <c:pt idx="1">
                  <c:v>1484</c:v>
                </c:pt>
                <c:pt idx="2">
                  <c:v>1450</c:v>
                </c:pt>
                <c:pt idx="3">
                  <c:v>1409</c:v>
                </c:pt>
                <c:pt idx="4">
                  <c:v>1468</c:v>
                </c:pt>
                <c:pt idx="5">
                  <c:v>1586</c:v>
                </c:pt>
                <c:pt idx="6">
                  <c:v>1427</c:v>
                </c:pt>
                <c:pt idx="7">
                  <c:v>1483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A9C-45E6-BA64-9C052842784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2025090992"/>
        <c:axId val="2021358688"/>
      </c:barChart>
      <c:catAx>
        <c:axId val="20250909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21358688"/>
        <c:crosses val="autoZero"/>
        <c:auto val="1"/>
        <c:lblAlgn val="ctr"/>
        <c:lblOffset val="100"/>
        <c:noMultiLvlLbl val="0"/>
      </c:catAx>
      <c:valAx>
        <c:axId val="2021358688"/>
        <c:scaling>
          <c:orientation val="minMax"/>
        </c:scaling>
        <c:delete val="1"/>
        <c:axPos val="l"/>
        <c:numFmt formatCode="0" sourceLinked="1"/>
        <c:majorTickMark val="none"/>
        <c:minorTickMark val="none"/>
        <c:tickLblPos val="nextTo"/>
        <c:crossAx val="20250909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2800" dirty="0"/>
              <a:t> OVERVIEW OF THE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95728"/>
            <a:ext cx="8229600" cy="428763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sz="2400" dirty="0"/>
              <a:t>This dataset contains 11,78</a:t>
            </a:r>
            <a:r>
              <a:rPr lang="en-US" sz="2400" dirty="0"/>
              <a:t>1</a:t>
            </a:r>
            <a:r>
              <a:rPr sz="2400" dirty="0"/>
              <a:t> customer transaction and behavior records.</a:t>
            </a:r>
            <a:endParaRPr lang="en-US" sz="2400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/>
              <a:t>Total Number of Columns is 38.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/>
              <a:t>Data Source: Kaggle</a:t>
            </a:r>
            <a:endParaRPr lang="en-US" sz="2400" dirty="0"/>
          </a:p>
          <a:p>
            <a:pPr>
              <a:buFont typeface="Wingdings" panose="05000000000000000000" pitchFamily="2" charset="2"/>
              <a:buChar char="Ø"/>
            </a:pPr>
            <a:r>
              <a:rPr sz="2400" dirty="0"/>
              <a:t>The objective is to understand customer value, engagement, loyalty, churn risk and segment customers into actionable groups for business decision-making.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dirty="0"/>
              <a:t>KPI Cards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0118" y="1682886"/>
            <a:ext cx="7976681" cy="4443278"/>
          </a:xfrm>
        </p:spPr>
        <p:txBody>
          <a:bodyPr>
            <a:normAutofit/>
          </a:bodyPr>
          <a:lstStyle/>
          <a:p>
            <a:r>
              <a:rPr sz="2400" dirty="0"/>
              <a:t>Total Customers: 11,780</a:t>
            </a:r>
          </a:p>
          <a:p>
            <a:r>
              <a:rPr sz="2400" dirty="0"/>
              <a:t>Total Revenue: </a:t>
            </a:r>
            <a:r>
              <a:rPr lang="en-US" sz="2400" dirty="0"/>
              <a:t>$</a:t>
            </a:r>
            <a:r>
              <a:rPr sz="2400" dirty="0"/>
              <a:t>292,622,872</a:t>
            </a:r>
          </a:p>
          <a:p>
            <a:r>
              <a:rPr sz="2400" dirty="0"/>
              <a:t>Average Purchase Amount: 24,841</a:t>
            </a:r>
          </a:p>
          <a:p>
            <a:r>
              <a:rPr sz="2400" dirty="0"/>
              <a:t>Avg Customer Value Score: 51.46</a:t>
            </a:r>
          </a:p>
          <a:p>
            <a:r>
              <a:rPr sz="2400" dirty="0"/>
              <a:t>Avg Engagement Score: 47.33</a:t>
            </a:r>
          </a:p>
          <a:p>
            <a:r>
              <a:rPr sz="2400" dirty="0"/>
              <a:t>Avg Loyalty Score: 52.60</a:t>
            </a:r>
          </a:p>
          <a:p>
            <a:r>
              <a:rPr sz="2400" dirty="0"/>
              <a:t>Avg Churn Risk Score: 50.14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69D5C-7816-E78C-59A3-86366A435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8F438-C7C4-26E3-38C1-62B5A944F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dirty="0"/>
              <a:t>K</a:t>
            </a:r>
            <a:r>
              <a:rPr lang="en-US" sz="2800" dirty="0"/>
              <a:t>ey Point Indicators</a:t>
            </a:r>
            <a:endParaRPr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8761B5-880A-F7D1-27E4-C486884722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0118" y="1682886"/>
            <a:ext cx="7976681" cy="4443278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/>
              <a:t>Customers by Segment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Revenue by Customer Segment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Revenue by Product Category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Revenue by Age Group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Revenue by Region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Revenue by Locations</a:t>
            </a: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617377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Customers by Segment</a:t>
            </a:r>
            <a:endParaRPr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000" dirty="0"/>
              <a:t>The customer base is heavily dominated by Low Value Customers, representing more than two-thirds of all customers. This indicates a large opportunity to nurture and convert these customers into higher-value segments.</a:t>
            </a:r>
          </a:p>
          <a:p>
            <a:r>
              <a:rPr lang="en-IN" sz="2000" dirty="0"/>
              <a:t>High Value Customers account for only 14.59% of customers but are likely contributing a significant portion of total revenue.</a:t>
            </a:r>
          </a:p>
          <a:p>
            <a:r>
              <a:rPr lang="en-IN" sz="2000" dirty="0"/>
              <a:t>Inactive Customers represent 7.20% of the customer base, highlighting a need for re-engagement campaigns to reduce customer loss.</a:t>
            </a:r>
          </a:p>
          <a:p>
            <a:endParaRPr dirty="0"/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079DB351-4BA4-406E-B67F-6437F4A3002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7458476"/>
              </p:ext>
            </p:extLst>
          </p:nvPr>
        </p:nvGraphicFramePr>
        <p:xfrm>
          <a:off x="1667157" y="4526294"/>
          <a:ext cx="5239481" cy="23317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091BC1-DD53-4A45-DB3D-0AE59FC51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12AFA-73AF-35D1-4D4A-6A3819962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Ad Clicks by Product Category</a:t>
            </a:r>
            <a:endParaRPr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F03B7-4B44-404A-EF21-292652365C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000" dirty="0"/>
              <a:t>Home Decor generated the highest number of ad clicks (1,586), indicating strong customer interest and effective advertising performance.</a:t>
            </a:r>
          </a:p>
          <a:p>
            <a:r>
              <a:rPr lang="en-IN" sz="2000" dirty="0"/>
              <a:t>Fashion received the lowest number of clicks (1,409), suggesting either lower customer demand or weaker campaign performance.</a:t>
            </a:r>
            <a:endParaRPr lang="en-IN" sz="2000" b="1" dirty="0"/>
          </a:p>
          <a:p>
            <a:r>
              <a:rPr lang="en-IN" sz="2000" dirty="0"/>
              <a:t>Marketing budgets should focus more on Home Decor and Books categories while reviewing and optimizing Fashion campaigns.</a:t>
            </a:r>
          </a:p>
          <a:p>
            <a:endParaRPr sz="2000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1399537A-29D1-4691-AA4A-4F7D15310CE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17323973"/>
              </p:ext>
            </p:extLst>
          </p:nvPr>
        </p:nvGraphicFramePr>
        <p:xfrm>
          <a:off x="1789889" y="3939703"/>
          <a:ext cx="5700409" cy="25950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4882098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Final Dashboard</a:t>
            </a:r>
            <a:endParaRPr sz="24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E8BD697-3EE5-2B8E-35E3-C53FE4B518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5780" y="1721795"/>
            <a:ext cx="8789604" cy="294748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dirty="0"/>
              <a:t>Final Conclusion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74715"/>
            <a:ext cx="8229600" cy="4151448"/>
          </a:xfrm>
        </p:spPr>
        <p:txBody>
          <a:bodyPr>
            <a:normAutofit/>
          </a:bodyPr>
          <a:lstStyle/>
          <a:p>
            <a:r>
              <a:rPr sz="2400" dirty="0"/>
              <a:t>Most customers belong to the Low Value segment, indicating strong potential for customer development.</a:t>
            </a:r>
            <a:endParaRPr lang="en-US" sz="2400" dirty="0"/>
          </a:p>
          <a:p>
            <a:r>
              <a:rPr sz="2400" dirty="0"/>
              <a:t>A significant inactive customer base highlights the need for re-engagement campaigns. High</a:t>
            </a:r>
            <a:r>
              <a:rPr lang="en-US" sz="2400" dirty="0"/>
              <a:t> </a:t>
            </a:r>
            <a:r>
              <a:rPr sz="2400" dirty="0"/>
              <a:t>value customers should be retained through loyalty programs and personalized offers. </a:t>
            </a:r>
            <a:endParaRPr lang="en-US" sz="2400" dirty="0"/>
          </a:p>
          <a:p>
            <a:r>
              <a:rPr sz="2400" dirty="0"/>
              <a:t>Improving engagement and repeat purchases can increase revenue while reducing churn risk.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501</TotalTime>
  <Words>326</Words>
  <Application>Microsoft Office PowerPoint</Application>
  <PresentationFormat>On-screen Show (4:3)</PresentationFormat>
  <Paragraphs>35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Wingdings</vt:lpstr>
      <vt:lpstr>Office Theme</vt:lpstr>
      <vt:lpstr> OVERVIEW OF THE DATA</vt:lpstr>
      <vt:lpstr>KPI Cards Summary</vt:lpstr>
      <vt:lpstr>Key Point Indicators</vt:lpstr>
      <vt:lpstr>Customers by Segment</vt:lpstr>
      <vt:lpstr>Ad Clicks by Product Category</vt:lpstr>
      <vt:lpstr>Final Dashboard</vt:lpstr>
      <vt:lpstr>Final Conclusion &amp; Recommendations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Admin</dc:creator>
  <cp:keywords/>
  <dc:description>generated using python-pptx</dc:description>
  <cp:lastModifiedBy>t26727</cp:lastModifiedBy>
  <cp:revision>12</cp:revision>
  <dcterms:created xsi:type="dcterms:W3CDTF">2013-01-27T09:14:16Z</dcterms:created>
  <dcterms:modified xsi:type="dcterms:W3CDTF">2026-08-08T03:25:38Z</dcterms:modified>
  <cp:category/>
</cp:coreProperties>
</file>